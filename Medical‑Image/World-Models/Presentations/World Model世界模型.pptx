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</p:sldMasterIdLst>
  <p:notesMasterIdLst>
    <p:notesMasterId r:id="rId17"/>
  </p:notesMasterIdLst>
  <p:sldIdLst>
    <p:sldId id="696" r:id="rId4"/>
    <p:sldId id="257" r:id="rId5"/>
    <p:sldId id="1758" r:id="rId6"/>
    <p:sldId id="1759" r:id="rId7"/>
    <p:sldId id="1760" r:id="rId8"/>
    <p:sldId id="1761" r:id="rId9"/>
    <p:sldId id="1762" r:id="rId10"/>
    <p:sldId id="1763" r:id="rId11"/>
    <p:sldId id="1764" r:id="rId12"/>
    <p:sldId id="1765" r:id="rId13"/>
    <p:sldId id="1766" r:id="rId14"/>
    <p:sldId id="1767" r:id="rId15"/>
    <p:sldId id="256" r:id="rId1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92" autoAdjust="0"/>
  </p:normalViewPr>
  <p:slideViewPr>
    <p:cSldViewPr snapToGrid="0">
      <p:cViewPr varScale="1">
        <p:scale>
          <a:sx n="107" d="100"/>
          <a:sy n="107" d="100"/>
        </p:scale>
        <p:origin x="1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85B18-CF77-43E0-A5A8-313CA265C6E0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0133F-7F9A-4CD8-AA79-B6C15B6E83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6913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020F7E6-B6AB-4685-9920-66673A4976C0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 panose="02010600030101010101" pitchFamily="2" charset="-122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 panose="02010600030101010101" pitchFamily="2" charset="-122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FA326-62F2-1C8C-9772-BE963920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35B88-AF45-88CA-06AA-91122427A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3B829-0307-FA9C-15A3-0C159BFC7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55657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1CC0-8479-4BB5-F609-7534A87D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D35D3-5B02-E3C8-0301-9A8F99155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0A747-3406-EA93-37D6-04D80A243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452431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82D0-EF97-0F1A-57B7-88572B92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BD796-3206-5AC0-3055-BDFDECFC2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9F61F6-A863-F1E5-425C-3B13C9052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582807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086BA-016E-A3CB-4ED7-7848DBA9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A3B5D-4A5E-CF6B-D564-B034404BC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95F961-5587-A8D5-C8EE-BB83F98C3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4920456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464E-19C3-8720-EFE8-71236317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6435CF-60DB-D17C-87B9-C46CBBEF5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8BB4B-C87E-59F7-F3C9-7CE7D5B1C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781390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811FB-2B75-8A70-7B12-5DDF23D0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13EB7-283A-2710-0F9B-51B5EA12EE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E0B65-7CCF-4C49-5460-D5D63D641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525647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ED93-D4D3-CE66-3CC6-4EF31260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EB994-3970-569C-EBEF-25E72FA72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523E5-85CC-5E61-E09E-C2DFED3CF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433504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BBDE3-4DCF-8B70-59E1-E970AF48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69C83-15F7-1E52-C35B-8593DDA56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66A6D4-D419-99DB-5992-4D1F46065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9916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D63C-D94C-4F58-2CE0-9E0D76E78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C7C47-3E5E-D663-AF77-1932421B7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28A9D-302F-E79F-FB73-551AE8251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10840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43A59-6B1C-E93B-31F4-708E04446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7CFBDA-7F2B-B094-D94E-93F3948E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AC43C6-C985-926C-C842-690F10191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F57243-C37F-2C63-AA39-9967F89D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6B855-1488-77A2-C8E7-56027F6F7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3083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4D876-A368-FF44-8671-F05C53102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A5571D-9B2E-4899-1A57-6819E244D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B3061-A801-98BB-7E7E-21CFD572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5D962-656B-B805-21CB-98CBC0BB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5F83A0-BD24-EA9C-C070-B71C6665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8227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D3EC0-BBB7-D04B-B286-DB68CE699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FC98D7-99D0-661D-A5D9-94948E8B0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225805-B423-4AD2-8F07-4828F1007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9365D1-EC1A-719C-191A-6747ACEE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B9109D-AD67-4D97-0383-E4B52FEF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689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036C0-7973-4B0E-1E3C-61243135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B2DB40-7393-D988-0AB1-04B268D55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FD1BFD-EB71-76FF-A3DC-BE6FA270C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059C1C-0521-F9FA-747E-7EB6C550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D666F3-C670-AC6B-F87E-DCF51B1A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C159C7-22B4-8CB6-B36E-7F81CEAE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432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032FF9-208B-D0D1-C691-DE502750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47BC20-4EDF-B47F-2F5E-ADD13D6FD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1A3557-6647-D155-6BE6-2CBEDEBD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699BFF-50F6-429B-4F6A-0B26B6B77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6FF598-F289-7571-2371-6A46B41AA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55507F-493A-3DC8-E48B-446FAEE0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D597F8-7404-48BE-B5E0-0FD35A4CC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3E09A1-A519-E54B-6E2E-768C8899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739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84483-D5E7-D71D-A99D-1D0E147A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D38F2E-C58F-FCB7-E648-A0EB15B4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DBE5B0-9DAA-08A1-BB09-CB7C0BC8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8A04D66-C472-DB46-F601-AD585877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963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5714DC-4F07-F7DA-8E48-DB7011B0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4044DB-F2C1-7ADB-B553-5F413BE2B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1347E4-1107-2700-A79E-06D04184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1306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D01715-E586-4F9B-6BA4-24A24B41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8203E-22C6-A2E2-833C-10003FE7C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B70600-31EC-0CE3-4114-7893A7A25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768407-659A-4A1C-F02C-2067127E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9B1C04-CEDE-BEBB-610D-8257BC6C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D19C57-99C1-F5DD-E3A2-22E27494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776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5E371-1951-4BF2-CCEE-F294FAC59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0AAA62-8374-5D65-8173-2D4B6FEF1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EDF564-B694-1217-3359-377379FA6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77A665-5AFD-20C8-AC62-9516F9B53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DF1ED0-5DF8-08E8-37D4-977E9A5EC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AF5FA7-40A1-BAAF-8367-F24EF9F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619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E9E4E-E8AF-0B4F-BAEB-57E883D6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886D82-93C0-9614-7873-D15F4B72F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EFA0A4-0AE8-7E2E-60D0-3D88280B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5289F-8754-54B0-30CA-5865BF1B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442D7-C129-BDC2-3CD1-669FAB4C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0866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59D3C47-5BD4-69F0-9E15-01566C7BB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341A66-27D7-4BC3-8FFF-2776CB272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F332B-4C67-9EBF-6814-C6EAA0CC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FEEC4-0FF3-B8D0-3EB3-FE5F5532E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DB056E-CC26-2297-8DE7-0FF6D9AC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0206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119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784485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97375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58761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913244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564399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72751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4630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798736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903303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53500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36567" y="222253"/>
            <a:ext cx="2880784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94219" y="222253"/>
            <a:ext cx="8439149" cy="59039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83467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99067" y="2438404"/>
            <a:ext cx="9753600" cy="2895596"/>
          </a:xfrm>
          <a:prstGeom prst="rect">
            <a:avLst/>
          </a:prstGeom>
          <a:noFill/>
          <a:ln w="6350" cap="rnd" cmpd="sng" algn="ctr">
            <a:solidFill>
              <a:srgbClr val="2250A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 sz="26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2" name="Rectangle 14"/>
          <p:cNvSpPr/>
          <p:nvPr/>
        </p:nvSpPr>
        <p:spPr>
          <a:xfrm>
            <a:off x="999067" y="2438404"/>
            <a:ext cx="304800" cy="2895596"/>
          </a:xfrm>
          <a:prstGeom prst="rect">
            <a:avLst/>
          </a:prstGeom>
          <a:solidFill>
            <a:srgbClr val="2250A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defRPr/>
            </a:pPr>
            <a:endParaRPr lang="zh-CN" altLang="zh-CN" sz="26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" name="Title 7"/>
          <p:cNvSpPr>
            <a:spLocks noGrp="1"/>
          </p:cNvSpPr>
          <p:nvPr>
            <p:ph type="ctrTitle"/>
          </p:nvPr>
        </p:nvSpPr>
        <p:spPr>
          <a:xfrm>
            <a:off x="1418167" y="2676528"/>
            <a:ext cx="9144000" cy="2428872"/>
          </a:xfrm>
        </p:spPr>
        <p:txBody>
          <a:bodyPr anchor="ctr"/>
          <a:lstStyle>
            <a:lvl1pPr algn="ctr">
              <a:defRPr sz="3200" b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72085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-r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03346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60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C9C7B-E402-2533-6EC1-742391CE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LID4096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865446-8DB8-6D66-C4E2-CB766FFDC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LID4096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F3E97-BEEC-0007-A282-093CEF162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318A-D66C-422E-9BB9-CD3FFBC36289}" type="datetimeFigureOut">
              <a:rPr lang="LID4096" smtClean="0"/>
              <a:t>09/12/2026</a:t>
            </a:fld>
            <a:endParaRPr lang="LID4096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AB20A-1652-7DEB-E729-3ED93EDE5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6DA7A-BC37-605E-71C0-9EA40D74E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A2BAC-E0FD-461C-8A76-E298A7CD3F2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243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0596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 userDrawn="1"/>
        </p:nvSpPr>
        <p:spPr bwMode="auto">
          <a:xfrm>
            <a:off x="0" y="1000125"/>
            <a:ext cx="646113" cy="261938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703263" y="996950"/>
            <a:ext cx="11488737" cy="26193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Text Box 11"/>
          <p:cNvSpPr txBox="1">
            <a:spLocks noChangeArrowheads="1"/>
          </p:cNvSpPr>
          <p:nvPr userDrawn="1"/>
        </p:nvSpPr>
        <p:spPr bwMode="auto">
          <a:xfrm>
            <a:off x="261938" y="963613"/>
            <a:ext cx="403225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r" eaLnBrk="1" hangingPunct="1">
              <a:defRPr/>
            </a:pPr>
            <a:fld id="{679EA1FA-98DD-462E-800D-6ADA9E20B4EE}" type="slidenum">
              <a:rPr lang="en-US" altLang="zh-CN" sz="1400" b="1" smtClean="0">
                <a:solidFill>
                  <a:schemeClr val="bg1"/>
                </a:solidFill>
                <a:ea typeface="宋体" panose="02010600030101010101" pitchFamily="2" charset="-122"/>
              </a:rPr>
              <a:t>‹#›</a:t>
            </a:fld>
            <a:endParaRPr lang="en-US" altLang="zh-CN" sz="14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93688" y="222250"/>
            <a:ext cx="11523662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293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630" indent="-34163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680" indent="-28448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730" indent="-22733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8930" indent="-22733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6130" indent="-22733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1LPWzNEkm/?spm_id_from=333.337.search-card.all.click&amp;vd_source=8c32e89eed3b4fc993e70e0c670c6e2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4" Type="http://schemas.openxmlformats.org/officeDocument/2006/relationships/hyperlink" Target="https://www.alphaxiv.org/pdf/1803.1012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温大钟楼"/>
          <p:cNvPicPr>
            <a:picLocks noChangeAspect="1"/>
          </p:cNvPicPr>
          <p:nvPr/>
        </p:nvPicPr>
        <p:blipFill>
          <a:blip r:embed="rId3"/>
          <a:srcRect t="15490" b="23685"/>
          <a:stretch>
            <a:fillRect/>
          </a:stretch>
        </p:blipFill>
        <p:spPr>
          <a:xfrm>
            <a:off x="0" y="0"/>
            <a:ext cx="12192000" cy="3002280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1904" y="2668905"/>
            <a:ext cx="12199426" cy="2234691"/>
          </a:xfr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eaLnBrk="1" hangingPunct="1"/>
            <a:r>
              <a:rPr lang="en-US" altLang="zh-CN" sz="4800" b="1" dirty="0">
                <a:solidFill>
                  <a:schemeClr val="bg1"/>
                </a:solidFill>
                <a:latin typeface="+mj-ea"/>
              </a:rPr>
              <a:t>World Model</a:t>
            </a:r>
            <a:r>
              <a:rPr lang="zh-CN" altLang="en-US" sz="4800" b="1" dirty="0">
                <a:solidFill>
                  <a:schemeClr val="bg1"/>
                </a:solidFill>
                <a:latin typeface="+mj-ea"/>
              </a:rPr>
              <a:t>调研</a:t>
            </a:r>
          </a:p>
        </p:txBody>
      </p:sp>
      <p:pic>
        <p:nvPicPr>
          <p:cNvPr id="6" name="图片 5" descr="成品210x120mm 250g铜版纸单面打印各一张未转曲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0" y="311785"/>
            <a:ext cx="2200910" cy="65849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alpha val="100000"/>
              </a:scheme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4739889" y="5309639"/>
            <a:ext cx="21082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汇报人：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陆佳明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/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l"/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   间：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75"/>
    </mc:Choice>
    <mc:Fallback xmlns="">
      <p:transition spd="slow" advTm="717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005BA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005BA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内容提要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2031999"/>
            <a:ext cx="2260600" cy="3672403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031999"/>
            <a:ext cx="50991" cy="3672403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79500" y="2286000"/>
            <a:ext cx="1019820" cy="786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218" y="2469620"/>
            <a:ext cx="419703" cy="419703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3365499"/>
            <a:ext cx="1912162" cy="5246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什么是世界模型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?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79500" y="4000499"/>
            <a:ext cx="1912162" cy="13115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世界模型的概念。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3" name="AutoShape 5">
            <a:extLst>
              <a:ext uri="{FF2B5EF4-FFF2-40B4-BE49-F238E27FC236}">
                <a16:creationId xmlns:a16="http://schemas.microsoft.com/office/drawing/2014/main" id="{1FE0C0EF-AE3A-62E8-5EB1-F9AA93D50588}"/>
              </a:ext>
            </a:extLst>
          </p:cNvPr>
          <p:cNvSpPr/>
          <p:nvPr/>
        </p:nvSpPr>
        <p:spPr>
          <a:xfrm>
            <a:off x="3088120" y="2031999"/>
            <a:ext cx="2260600" cy="3672403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5" name="AutoShape 6">
            <a:extLst>
              <a:ext uri="{FF2B5EF4-FFF2-40B4-BE49-F238E27FC236}">
                <a16:creationId xmlns:a16="http://schemas.microsoft.com/office/drawing/2014/main" id="{D7033C5D-6338-5D26-3D83-5AFACA1D030F}"/>
              </a:ext>
            </a:extLst>
          </p:cNvPr>
          <p:cNvSpPr/>
          <p:nvPr/>
        </p:nvSpPr>
        <p:spPr>
          <a:xfrm>
            <a:off x="3088120" y="2031999"/>
            <a:ext cx="50991" cy="3672403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6" name="AutoShape 7">
            <a:extLst>
              <a:ext uri="{FF2B5EF4-FFF2-40B4-BE49-F238E27FC236}">
                <a16:creationId xmlns:a16="http://schemas.microsoft.com/office/drawing/2014/main" id="{5E54827B-468D-3BC4-2488-3932F4A03A7D}"/>
              </a:ext>
            </a:extLst>
          </p:cNvPr>
          <p:cNvSpPr/>
          <p:nvPr/>
        </p:nvSpPr>
        <p:spPr>
          <a:xfrm>
            <a:off x="3405620" y="2286000"/>
            <a:ext cx="1019820" cy="786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8" name="AutoShape 9">
            <a:extLst>
              <a:ext uri="{FF2B5EF4-FFF2-40B4-BE49-F238E27FC236}">
                <a16:creationId xmlns:a16="http://schemas.microsoft.com/office/drawing/2014/main" id="{4B653258-0040-0D1B-606A-8136C0787E17}"/>
              </a:ext>
            </a:extLst>
          </p:cNvPr>
          <p:cNvSpPr/>
          <p:nvPr/>
        </p:nvSpPr>
        <p:spPr>
          <a:xfrm>
            <a:off x="3405620" y="3365499"/>
            <a:ext cx="1912162" cy="5246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为什么要研究世界模型？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9" name="AutoShape 10">
            <a:extLst>
              <a:ext uri="{FF2B5EF4-FFF2-40B4-BE49-F238E27FC236}">
                <a16:creationId xmlns:a16="http://schemas.microsoft.com/office/drawing/2014/main" id="{64811153-F2A4-5563-0381-CB3D9D0510C4}"/>
              </a:ext>
            </a:extLst>
          </p:cNvPr>
          <p:cNvSpPr/>
          <p:nvPr/>
        </p:nvSpPr>
        <p:spPr>
          <a:xfrm>
            <a:off x="3405620" y="4000499"/>
            <a:ext cx="1912162" cy="13115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发展机遇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6740" y="2509102"/>
            <a:ext cx="398941" cy="398941"/>
          </a:xfrm>
          <a:prstGeom prst="rect">
            <a:avLst/>
          </a:prstGeom>
        </p:spPr>
      </p:pic>
      <p:sp>
        <p:nvSpPr>
          <p:cNvPr id="30" name="AutoShape 5">
            <a:extLst>
              <a:ext uri="{FF2B5EF4-FFF2-40B4-BE49-F238E27FC236}">
                <a16:creationId xmlns:a16="http://schemas.microsoft.com/office/drawing/2014/main" id="{ACEB7FF5-E6C0-F8CE-6589-FE7988685224}"/>
              </a:ext>
            </a:extLst>
          </p:cNvPr>
          <p:cNvSpPr/>
          <p:nvPr/>
        </p:nvSpPr>
        <p:spPr>
          <a:xfrm>
            <a:off x="5378050" y="2031999"/>
            <a:ext cx="2260600" cy="3672403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1" name="AutoShape 6">
            <a:extLst>
              <a:ext uri="{FF2B5EF4-FFF2-40B4-BE49-F238E27FC236}">
                <a16:creationId xmlns:a16="http://schemas.microsoft.com/office/drawing/2014/main" id="{17D4DBEF-29EC-85DB-F419-25A49ED6342E}"/>
              </a:ext>
            </a:extLst>
          </p:cNvPr>
          <p:cNvSpPr/>
          <p:nvPr/>
        </p:nvSpPr>
        <p:spPr>
          <a:xfrm>
            <a:off x="5399520" y="2031999"/>
            <a:ext cx="50991" cy="3672403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2" name="AutoShape 7">
            <a:extLst>
              <a:ext uri="{FF2B5EF4-FFF2-40B4-BE49-F238E27FC236}">
                <a16:creationId xmlns:a16="http://schemas.microsoft.com/office/drawing/2014/main" id="{089EA9C5-7312-A454-6A97-264826BA802E}"/>
              </a:ext>
            </a:extLst>
          </p:cNvPr>
          <p:cNvSpPr/>
          <p:nvPr/>
        </p:nvSpPr>
        <p:spPr>
          <a:xfrm>
            <a:off x="5717020" y="2286000"/>
            <a:ext cx="1019820" cy="786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4800" b="1" kern="0" dirty="0">
                <a:solidFill>
                  <a:srgbClr val="005BAC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4" name="AutoShape 9">
            <a:extLst>
              <a:ext uri="{FF2B5EF4-FFF2-40B4-BE49-F238E27FC236}">
                <a16:creationId xmlns:a16="http://schemas.microsoft.com/office/drawing/2014/main" id="{1B711B72-BB33-149A-087E-465DAFA7E595}"/>
              </a:ext>
            </a:extLst>
          </p:cNvPr>
          <p:cNvSpPr/>
          <p:nvPr/>
        </p:nvSpPr>
        <p:spPr>
          <a:xfrm>
            <a:off x="5717020" y="3365499"/>
            <a:ext cx="1912162" cy="5246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世界模型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5" name="AutoShape 10">
            <a:extLst>
              <a:ext uri="{FF2B5EF4-FFF2-40B4-BE49-F238E27FC236}">
                <a16:creationId xmlns:a16="http://schemas.microsoft.com/office/drawing/2014/main" id="{B4866728-AE7E-3CEA-6278-738A1C29A770}"/>
              </a:ext>
            </a:extLst>
          </p:cNvPr>
          <p:cNvSpPr/>
          <p:nvPr/>
        </p:nvSpPr>
        <p:spPr>
          <a:xfrm>
            <a:off x="5717020" y="4000499"/>
            <a:ext cx="1912162" cy="13115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世界模型讲解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6110" y="2566769"/>
            <a:ext cx="406400" cy="406400"/>
          </a:xfrm>
          <a:prstGeom prst="rect">
            <a:avLst/>
          </a:prstGeom>
        </p:spPr>
      </p:pic>
      <p:sp>
        <p:nvSpPr>
          <p:cNvPr id="36" name="AutoShape 5">
            <a:extLst>
              <a:ext uri="{FF2B5EF4-FFF2-40B4-BE49-F238E27FC236}">
                <a16:creationId xmlns:a16="http://schemas.microsoft.com/office/drawing/2014/main" id="{3A9E4252-46E8-131F-2B7B-6E0B67F9DE38}"/>
              </a:ext>
            </a:extLst>
          </p:cNvPr>
          <p:cNvSpPr/>
          <p:nvPr/>
        </p:nvSpPr>
        <p:spPr>
          <a:xfrm>
            <a:off x="7667980" y="2031999"/>
            <a:ext cx="2260600" cy="3672403"/>
          </a:xfrm>
          <a:prstGeom prst="roundRect">
            <a:avLst>
              <a:gd name="adj" fmla="val 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7" name="AutoShape 6">
            <a:extLst>
              <a:ext uri="{FF2B5EF4-FFF2-40B4-BE49-F238E27FC236}">
                <a16:creationId xmlns:a16="http://schemas.microsoft.com/office/drawing/2014/main" id="{63801CD1-0E27-22C5-AD2D-4CA79FC28631}"/>
              </a:ext>
            </a:extLst>
          </p:cNvPr>
          <p:cNvSpPr/>
          <p:nvPr/>
        </p:nvSpPr>
        <p:spPr>
          <a:xfrm>
            <a:off x="7667980" y="2031999"/>
            <a:ext cx="50991" cy="3672403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8" name="AutoShape 7">
            <a:extLst>
              <a:ext uri="{FF2B5EF4-FFF2-40B4-BE49-F238E27FC236}">
                <a16:creationId xmlns:a16="http://schemas.microsoft.com/office/drawing/2014/main" id="{A76010F0-E519-01F6-FF55-DE02F657C224}"/>
              </a:ext>
            </a:extLst>
          </p:cNvPr>
          <p:cNvSpPr/>
          <p:nvPr/>
        </p:nvSpPr>
        <p:spPr>
          <a:xfrm>
            <a:off x="7985480" y="2286000"/>
            <a:ext cx="1019820" cy="78694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sz="4800" b="1" kern="0" dirty="0">
                <a:solidFill>
                  <a:srgbClr val="005BAC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39" name="Picture 8">
            <a:extLst>
              <a:ext uri="{FF2B5EF4-FFF2-40B4-BE49-F238E27FC236}">
                <a16:creationId xmlns:a16="http://schemas.microsoft.com/office/drawing/2014/main" id="{BDBF19FC-8B5F-B05D-E545-742220EB9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8198" y="2469620"/>
            <a:ext cx="419703" cy="419703"/>
          </a:xfrm>
          <a:prstGeom prst="rect">
            <a:avLst/>
          </a:prstGeom>
        </p:spPr>
      </p:pic>
      <p:sp>
        <p:nvSpPr>
          <p:cNvPr id="40" name="AutoShape 9">
            <a:extLst>
              <a:ext uri="{FF2B5EF4-FFF2-40B4-BE49-F238E27FC236}">
                <a16:creationId xmlns:a16="http://schemas.microsoft.com/office/drawing/2014/main" id="{0FFB1831-5E6F-9BCE-7CDC-65EFB38B2E79}"/>
              </a:ext>
            </a:extLst>
          </p:cNvPr>
          <p:cNvSpPr/>
          <p:nvPr/>
        </p:nvSpPr>
        <p:spPr>
          <a:xfrm>
            <a:off x="7985480" y="3365499"/>
            <a:ext cx="1912162" cy="52462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发展前景和存在的问题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41" name="AutoShape 10">
            <a:extLst>
              <a:ext uri="{FF2B5EF4-FFF2-40B4-BE49-F238E27FC236}">
                <a16:creationId xmlns:a16="http://schemas.microsoft.com/office/drawing/2014/main" id="{5A2ADE11-63C5-5F9C-D181-483DAB9FAF8E}"/>
              </a:ext>
            </a:extLst>
          </p:cNvPr>
          <p:cNvSpPr/>
          <p:nvPr/>
        </p:nvSpPr>
        <p:spPr>
          <a:xfrm>
            <a:off x="7985480" y="4000499"/>
            <a:ext cx="1912162" cy="131157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应用场景和带来的问题挑战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/>
          <p:nvPr/>
        </p:nvSpPr>
        <p:spPr>
          <a:xfrm>
            <a:off x="535940" y="128841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</p:sp>
      <p:sp>
        <p:nvSpPr>
          <p:cNvPr id="26" name="AutoShape 4"/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4294CD91-2C22-FA90-88F9-EBB5F9564354}"/>
              </a:ext>
            </a:extLst>
          </p:cNvPr>
          <p:cNvSpPr/>
          <p:nvPr/>
        </p:nvSpPr>
        <p:spPr>
          <a:xfrm>
            <a:off x="475343" y="1502393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世界如何运作的模型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27" name="Picture 22">
            <a:extLst>
              <a:ext uri="{FF2B5EF4-FFF2-40B4-BE49-F238E27FC236}">
                <a16:creationId xmlns:a16="http://schemas.microsoft.com/office/drawing/2014/main" id="{103E807F-E333-AA53-2B5A-1E0A94FC6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022" y="3539582"/>
            <a:ext cx="609600" cy="609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1A7981-6FD9-F324-1A62-4A8568101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44" y="2064658"/>
            <a:ext cx="5486980" cy="1338082"/>
          </a:xfrm>
          <a:prstGeom prst="rect">
            <a:avLst/>
          </a:prstGeom>
        </p:spPr>
      </p:pic>
      <p:sp>
        <p:nvSpPr>
          <p:cNvPr id="34" name="AutoShape 7">
            <a:extLst>
              <a:ext uri="{FF2B5EF4-FFF2-40B4-BE49-F238E27FC236}">
                <a16:creationId xmlns:a16="http://schemas.microsoft.com/office/drawing/2014/main" id="{7CB0EB3D-1C95-7EA1-2DD3-19AE5FF57087}"/>
              </a:ext>
            </a:extLst>
          </p:cNvPr>
          <p:cNvSpPr/>
          <p:nvPr/>
        </p:nvSpPr>
        <p:spPr>
          <a:xfrm>
            <a:off x="1149856" y="3674516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在认知科学里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C3E046CA-9B55-DDA3-3226-AEE1A7F4EE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022" y="4251754"/>
            <a:ext cx="6137074" cy="1686294"/>
          </a:xfrm>
          <a:prstGeom prst="rect">
            <a:avLst/>
          </a:prstGeom>
        </p:spPr>
      </p:pic>
      <p:sp>
        <p:nvSpPr>
          <p:cNvPr id="37" name="AutoShape 7">
            <a:extLst>
              <a:ext uri="{FF2B5EF4-FFF2-40B4-BE49-F238E27FC236}">
                <a16:creationId xmlns:a16="http://schemas.microsoft.com/office/drawing/2014/main" id="{7A5E9C26-D5A3-1283-C94C-7AD5797FE462}"/>
              </a:ext>
            </a:extLst>
          </p:cNvPr>
          <p:cNvSpPr/>
          <p:nvPr/>
        </p:nvSpPr>
        <p:spPr>
          <a:xfrm>
            <a:off x="6574900" y="1612265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 panose="020B0503020204020204" pitchFamily="34" charset="-122"/>
                <a:cs typeface="Arial"/>
                <a:sym typeface="Arial"/>
              </a:rPr>
              <a:t>提出疑问：机器想要具备真正的智能是否也需要一个属于他自己的世界？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2BD9416-E6B5-73CB-48C9-7EE141FF777F}"/>
              </a:ext>
            </a:extLst>
          </p:cNvPr>
          <p:cNvCxnSpPr/>
          <p:nvPr/>
        </p:nvCxnSpPr>
        <p:spPr>
          <a:xfrm>
            <a:off x="6634466" y="2073250"/>
            <a:ext cx="0" cy="4310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>
            <a:extLst>
              <a:ext uri="{FF2B5EF4-FFF2-40B4-BE49-F238E27FC236}">
                <a16:creationId xmlns:a16="http://schemas.microsoft.com/office/drawing/2014/main" id="{74FFA73C-B464-E7B6-E84B-006C9D629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361" y="2199794"/>
            <a:ext cx="2971803" cy="4103919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53C34C28-029E-FF01-ACFE-250CAD6183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5565" y="2184835"/>
            <a:ext cx="2382713" cy="168018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AB52F1F5-7306-C839-BA0B-0471C1E65C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5911" y="4251753"/>
            <a:ext cx="1657129" cy="1444121"/>
          </a:xfrm>
          <a:prstGeom prst="rect">
            <a:avLst/>
          </a:prstGeom>
        </p:spPr>
      </p:pic>
      <p:sp>
        <p:nvSpPr>
          <p:cNvPr id="53" name="AutoShape 7">
            <a:extLst>
              <a:ext uri="{FF2B5EF4-FFF2-40B4-BE49-F238E27FC236}">
                <a16:creationId xmlns:a16="http://schemas.microsoft.com/office/drawing/2014/main" id="{979EE7A6-DA5C-B86B-5630-EF175D986522}"/>
              </a:ext>
            </a:extLst>
          </p:cNvPr>
          <p:cNvSpPr/>
          <p:nvPr/>
        </p:nvSpPr>
        <p:spPr>
          <a:xfrm>
            <a:off x="6086391" y="2095837"/>
            <a:ext cx="63644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5BA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2018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9B049-27A5-2694-8D7E-BA92146F1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13A99FDA-A104-E88B-6270-52EB76723D45}"/>
              </a:ext>
            </a:extLst>
          </p:cNvPr>
          <p:cNvSpPr/>
          <p:nvPr/>
        </p:nvSpPr>
        <p:spPr>
          <a:xfrm>
            <a:off x="535940" y="128841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75079323-B3C4-0D16-D638-D82CAA0E4C19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FA25AF5C-AA1B-8654-55F8-96C3E64596BA}"/>
              </a:ext>
            </a:extLst>
          </p:cNvPr>
          <p:cNvSpPr/>
          <p:nvPr/>
        </p:nvSpPr>
        <p:spPr>
          <a:xfrm>
            <a:off x="475343" y="1425204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世界模型理解框架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0424A47-39E9-71EC-B296-7D4DCC974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43" y="1870593"/>
            <a:ext cx="5425717" cy="77401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4FDB618-96F2-A402-3500-3F1B811FC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42" y="3140411"/>
            <a:ext cx="11100731" cy="3304303"/>
          </a:xfrm>
          <a:prstGeom prst="rect">
            <a:avLst/>
          </a:prstGeom>
        </p:spPr>
      </p:pic>
      <p:sp>
        <p:nvSpPr>
          <p:cNvPr id="22" name="AutoShape 7">
            <a:extLst>
              <a:ext uri="{FF2B5EF4-FFF2-40B4-BE49-F238E27FC236}">
                <a16:creationId xmlns:a16="http://schemas.microsoft.com/office/drawing/2014/main" id="{8ABA3DA9-FEFD-6DC2-6571-C6ED457D0464}"/>
              </a:ext>
            </a:extLst>
          </p:cNvPr>
          <p:cNvSpPr/>
          <p:nvPr/>
        </p:nvSpPr>
        <p:spPr>
          <a:xfrm>
            <a:off x="475343" y="2709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举个例子：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3682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343D8-0E42-D040-3F29-905A1042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14B42A81-0B95-649D-A268-6F716E1EC34E}"/>
              </a:ext>
            </a:extLst>
          </p:cNvPr>
          <p:cNvSpPr/>
          <p:nvPr/>
        </p:nvSpPr>
        <p:spPr>
          <a:xfrm>
            <a:off x="535940" y="128841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5A48CBAD-75FC-D97A-E9D0-08E36784A43E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E8585F1-2856-BD4C-ED4D-40CE1279BF98}"/>
              </a:ext>
            </a:extLst>
          </p:cNvPr>
          <p:cNvSpPr/>
          <p:nvPr/>
        </p:nvSpPr>
        <p:spPr>
          <a:xfrm>
            <a:off x="475343" y="1425204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世界模型应该具备的三大特质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418EB77E-26C9-5DE1-4F61-2E3625AFFE3F}"/>
              </a:ext>
            </a:extLst>
          </p:cNvPr>
          <p:cNvSpPr/>
          <p:nvPr/>
        </p:nvSpPr>
        <p:spPr>
          <a:xfrm>
            <a:off x="475343" y="1872689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5BAC">
              <a:alpha val="8000"/>
            </a:srgbClr>
          </a:solidFill>
          <a:ln w="12700" cap="flat" cmpd="sng">
            <a:solidFill>
              <a:srgbClr val="005BA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214E84CF-700E-091B-F378-3C971547F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343" y="2291789"/>
            <a:ext cx="609600" cy="609600"/>
          </a:xfrm>
          <a:prstGeom prst="rect">
            <a:avLst/>
          </a:prstGeom>
        </p:spPr>
      </p:pic>
      <p:sp>
        <p:nvSpPr>
          <p:cNvPr id="5" name="AutoShape 19">
            <a:extLst>
              <a:ext uri="{FF2B5EF4-FFF2-40B4-BE49-F238E27FC236}">
                <a16:creationId xmlns:a16="http://schemas.microsoft.com/office/drawing/2014/main" id="{DE124C88-EF3B-35FE-1984-3CDCBB24CF6D}"/>
              </a:ext>
            </a:extLst>
          </p:cNvPr>
          <p:cNvSpPr/>
          <p:nvPr/>
        </p:nvSpPr>
        <p:spPr>
          <a:xfrm>
            <a:off x="1491343" y="2063189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表示世界</a:t>
            </a:r>
            <a:r>
              <a:rPr lang="zh-CN" altLang="en-US" sz="1600" b="1" kern="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altLang="zh-CN" sz="1600" b="1" kern="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Representation</a:t>
            </a:r>
            <a:r>
              <a:rPr lang="zh-CN" altLang="en-US" sz="1600" b="1" kern="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66E34118-263A-84DB-A73D-035EB02C15D3}"/>
              </a:ext>
            </a:extLst>
          </p:cNvPr>
          <p:cNvSpPr/>
          <p:nvPr/>
        </p:nvSpPr>
        <p:spPr>
          <a:xfrm>
            <a:off x="1491343" y="2507689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1300" kern="0" dirty="0">
                <a:solidFill>
                  <a:srgbClr val="666666"/>
                </a:solidFill>
                <a:latin typeface="Noto Sans SC"/>
                <a:ea typeface="Noto Sans SC"/>
                <a:cs typeface="Arial"/>
                <a:sym typeface="Noto Sans SC"/>
              </a:rPr>
              <a:t>理解所处的环境，有什么物体，物与物之间的关系。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21">
            <a:extLst>
              <a:ext uri="{FF2B5EF4-FFF2-40B4-BE49-F238E27FC236}">
                <a16:creationId xmlns:a16="http://schemas.microsoft.com/office/drawing/2014/main" id="{06CE45F7-B109-0A3E-A0A9-0597DEB34C69}"/>
              </a:ext>
            </a:extLst>
          </p:cNvPr>
          <p:cNvSpPr/>
          <p:nvPr/>
        </p:nvSpPr>
        <p:spPr>
          <a:xfrm>
            <a:off x="475343" y="3523689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5BAC">
              <a:alpha val="15000"/>
            </a:srgbClr>
          </a:solidFill>
          <a:ln w="12700" cap="flat" cmpd="sng">
            <a:solidFill>
              <a:srgbClr val="005BAC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22">
            <a:extLst>
              <a:ext uri="{FF2B5EF4-FFF2-40B4-BE49-F238E27FC236}">
                <a16:creationId xmlns:a16="http://schemas.microsoft.com/office/drawing/2014/main" id="{83833291-7C47-FB5B-1E6B-74C4A5C6C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9343" y="3942789"/>
            <a:ext cx="609600" cy="609600"/>
          </a:xfrm>
          <a:prstGeom prst="rect">
            <a:avLst/>
          </a:prstGeom>
        </p:spPr>
      </p:pic>
      <p:sp>
        <p:nvSpPr>
          <p:cNvPr id="10" name="AutoShape 23">
            <a:extLst>
              <a:ext uri="{FF2B5EF4-FFF2-40B4-BE49-F238E27FC236}">
                <a16:creationId xmlns:a16="http://schemas.microsoft.com/office/drawing/2014/main" id="{F31BD1AF-F6F9-1A72-11D4-8F083A23BA39}"/>
              </a:ext>
            </a:extLst>
          </p:cNvPr>
          <p:cNvSpPr/>
          <p:nvPr/>
        </p:nvSpPr>
        <p:spPr>
          <a:xfrm>
            <a:off x="1491343" y="3714189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预测未来</a:t>
            </a:r>
            <a:r>
              <a:rPr lang="zh-CN" altLang="en-US" sz="1600" b="1" kern="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</a:t>
            </a:r>
            <a:r>
              <a:rPr lang="en-US" altLang="zh-CN" sz="1600" b="1" kern="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Prediction</a:t>
            </a:r>
            <a:r>
              <a:rPr lang="zh-CN" altLang="en-US" sz="1600" b="1" kern="0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24">
            <a:extLst>
              <a:ext uri="{FF2B5EF4-FFF2-40B4-BE49-F238E27FC236}">
                <a16:creationId xmlns:a16="http://schemas.microsoft.com/office/drawing/2014/main" id="{8342166E-6481-2B15-9583-EE0449E2872F}"/>
              </a:ext>
            </a:extLst>
          </p:cNvPr>
          <p:cNvSpPr/>
          <p:nvPr/>
        </p:nvSpPr>
        <p:spPr>
          <a:xfrm>
            <a:off x="1491343" y="4158689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对事件进行模拟和生成。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25">
            <a:extLst>
              <a:ext uri="{FF2B5EF4-FFF2-40B4-BE49-F238E27FC236}">
                <a16:creationId xmlns:a16="http://schemas.microsoft.com/office/drawing/2014/main" id="{4D2575B9-DCA6-1765-5132-B38EEA3C23A9}"/>
              </a:ext>
            </a:extLst>
          </p:cNvPr>
          <p:cNvSpPr/>
          <p:nvPr/>
        </p:nvSpPr>
        <p:spPr>
          <a:xfrm>
            <a:off x="475343" y="5174689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5BAC">
              <a:alpha val="25000"/>
            </a:srgbClr>
          </a:solidFill>
          <a:ln w="12700" cap="flat" cmpd="sng">
            <a:solidFill>
              <a:srgbClr val="005BAC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4EAE2B76-F6FD-A545-B377-534F61FE29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9343" y="5593789"/>
            <a:ext cx="609600" cy="609600"/>
          </a:xfrm>
          <a:prstGeom prst="rect">
            <a:avLst/>
          </a:prstGeom>
        </p:spPr>
      </p:pic>
      <p:sp>
        <p:nvSpPr>
          <p:cNvPr id="14" name="AutoShape 27">
            <a:extLst>
              <a:ext uri="{FF2B5EF4-FFF2-40B4-BE49-F238E27FC236}">
                <a16:creationId xmlns:a16="http://schemas.microsoft.com/office/drawing/2014/main" id="{014BF237-5556-2FC4-4D54-F4B3491E4AEA}"/>
              </a:ext>
            </a:extLst>
          </p:cNvPr>
          <p:cNvSpPr/>
          <p:nvPr/>
        </p:nvSpPr>
        <p:spPr>
          <a:xfrm>
            <a:off x="1491343" y="5365189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规划和行动（</a:t>
            </a: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Planning &amp; control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28">
            <a:extLst>
              <a:ext uri="{FF2B5EF4-FFF2-40B4-BE49-F238E27FC236}">
                <a16:creationId xmlns:a16="http://schemas.microsoft.com/office/drawing/2014/main" id="{7947EAD7-A421-7E1A-8ECA-BE03607A699C}"/>
              </a:ext>
            </a:extLst>
          </p:cNvPr>
          <p:cNvSpPr/>
          <p:nvPr/>
        </p:nvSpPr>
        <p:spPr>
          <a:xfrm>
            <a:off x="1491343" y="5809689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1300" kern="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预测接下来会发生什么，应该如何采取行动</a:t>
            </a:r>
            <a:r>
              <a:rPr kumimoji="0" 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83052D6-14C6-3ADB-E807-C80F5611D59C}"/>
              </a:ext>
            </a:extLst>
          </p:cNvPr>
          <p:cNvSpPr txBox="1"/>
          <p:nvPr/>
        </p:nvSpPr>
        <p:spPr>
          <a:xfrm>
            <a:off x="7018317" y="2477687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“只会回答问题”的语言机器</a:t>
            </a:r>
            <a:endParaRPr lang="LID4096" dirty="0"/>
          </a:p>
        </p:txBody>
      </p:sp>
      <p:sp>
        <p:nvSpPr>
          <p:cNvPr id="33" name="箭头: 下 32">
            <a:extLst>
              <a:ext uri="{FF2B5EF4-FFF2-40B4-BE49-F238E27FC236}">
                <a16:creationId xmlns:a16="http://schemas.microsoft.com/office/drawing/2014/main" id="{FBFB074A-98FC-30CB-D581-E634ECF57827}"/>
              </a:ext>
            </a:extLst>
          </p:cNvPr>
          <p:cNvSpPr/>
          <p:nvPr/>
        </p:nvSpPr>
        <p:spPr>
          <a:xfrm>
            <a:off x="8288977" y="3040083"/>
            <a:ext cx="463137" cy="12409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EEDCBC7-11EC-EC6B-BB00-CC17B4E9BA01}"/>
              </a:ext>
            </a:extLst>
          </p:cNvPr>
          <p:cNvSpPr txBox="1"/>
          <p:nvPr/>
        </p:nvSpPr>
        <p:spPr>
          <a:xfrm>
            <a:off x="6792686" y="4417323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“会观察 会推理 会行动”的真正智能体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87349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014DB-14E6-1AE8-EEED-D3C7A868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A1F2626-6AE9-8387-A390-0F6A55B571C3}"/>
              </a:ext>
            </a:extLst>
          </p:cNvPr>
          <p:cNvSpPr/>
          <p:nvPr/>
        </p:nvSpPr>
        <p:spPr>
          <a:xfrm>
            <a:off x="535940" y="128841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3ECC045-4C06-0747-8324-B1AF5E2FF090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为什么要研究世界模型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2A4AB83C-ECC3-6590-8697-FC2D51C57052}"/>
              </a:ext>
            </a:extLst>
          </p:cNvPr>
          <p:cNvSpPr/>
          <p:nvPr/>
        </p:nvSpPr>
        <p:spPr>
          <a:xfrm>
            <a:off x="535940" y="1359852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世界模型和大语言模型的对比：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77B226A-4167-E4A1-2B3E-D8E3047FB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40" y="1802764"/>
            <a:ext cx="8924307" cy="400583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6087A73-AF87-8AB9-3E99-9E1F82663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524" y="2393500"/>
            <a:ext cx="1552270" cy="69115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EECECFD-CB64-080B-C1DD-732DCEB74F36}"/>
              </a:ext>
            </a:extLst>
          </p:cNvPr>
          <p:cNvSpPr txBox="1"/>
          <p:nvPr/>
        </p:nvSpPr>
        <p:spPr>
          <a:xfrm>
            <a:off x="535940" y="5944088"/>
            <a:ext cx="426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实现通用人工智能</a:t>
            </a:r>
            <a:endParaRPr lang="LID4096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E96E116-DFB1-0DA4-A852-D0C03F4BE6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891" y="1802764"/>
            <a:ext cx="2164188" cy="122669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D506682-7CA8-58D0-5910-27B7172FBC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8894" y="3165001"/>
            <a:ext cx="2533106" cy="130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7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BE739-A2F5-2404-CB41-8D205BD1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DF9730D4-D47F-76E2-D764-81243445ED8F}"/>
              </a:ext>
            </a:extLst>
          </p:cNvPr>
          <p:cNvSpPr/>
          <p:nvPr/>
        </p:nvSpPr>
        <p:spPr>
          <a:xfrm>
            <a:off x="535940" y="128841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B36676F8-DBBF-4AA5-971A-B21C5599E7CA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为什么要研究世界模型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260CF1-A311-71A8-79B8-DC4A54952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40" y="1704108"/>
            <a:ext cx="3610586" cy="2689027"/>
          </a:xfrm>
          <a:prstGeom prst="rect">
            <a:avLst/>
          </a:prstGeom>
        </p:spPr>
      </p:pic>
      <p:sp>
        <p:nvSpPr>
          <p:cNvPr id="5" name="AutoShape 7">
            <a:extLst>
              <a:ext uri="{FF2B5EF4-FFF2-40B4-BE49-F238E27FC236}">
                <a16:creationId xmlns:a16="http://schemas.microsoft.com/office/drawing/2014/main" id="{0F70ED32-D584-BEFC-0169-5BB06D93B551}"/>
              </a:ext>
            </a:extLst>
          </p:cNvPr>
          <p:cNvSpPr/>
          <p:nvPr/>
        </p:nvSpPr>
        <p:spPr>
          <a:xfrm>
            <a:off x="535940" y="1359852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一些学者认为：大模型是死路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FB0F79-8855-6B70-8D66-7B7E7854B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718" y="1704108"/>
            <a:ext cx="5917247" cy="1448797"/>
          </a:xfrm>
          <a:prstGeom prst="rect">
            <a:avLst/>
          </a:prstGeom>
        </p:spPr>
      </p:pic>
      <p:sp>
        <p:nvSpPr>
          <p:cNvPr id="8" name="箭头: 下 7">
            <a:extLst>
              <a:ext uri="{FF2B5EF4-FFF2-40B4-BE49-F238E27FC236}">
                <a16:creationId xmlns:a16="http://schemas.microsoft.com/office/drawing/2014/main" id="{CAE514E5-0DED-6E81-EC9E-0694B2B83AC1}"/>
              </a:ext>
            </a:extLst>
          </p:cNvPr>
          <p:cNvSpPr/>
          <p:nvPr/>
        </p:nvSpPr>
        <p:spPr>
          <a:xfrm>
            <a:off x="6953003" y="3230088"/>
            <a:ext cx="237506" cy="6115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1C713E16-44CA-06FE-987F-FE46C63B7265}"/>
              </a:ext>
            </a:extLst>
          </p:cNvPr>
          <p:cNvSpPr/>
          <p:nvPr/>
        </p:nvSpPr>
        <p:spPr>
          <a:xfrm>
            <a:off x="4399379" y="4012135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一些学者认为：研究路线错了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76E094-AAA8-E82E-8F70-32953E968BB8}"/>
              </a:ext>
            </a:extLst>
          </p:cNvPr>
          <p:cNvSpPr txBox="1"/>
          <p:nvPr/>
        </p:nvSpPr>
        <p:spPr>
          <a:xfrm>
            <a:off x="535940" y="4690344"/>
            <a:ext cx="11238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r>
              <a:rPr lang="zh-CN" altLang="en-US" dirty="0"/>
              <a:t>：海量数据拟合语言统计相关性，缺少对现实世界的直接建模能力。他们认为继续沿着</a:t>
            </a:r>
            <a:r>
              <a:rPr lang="en-US" altLang="zh-CN" dirty="0"/>
              <a:t>LLM</a:t>
            </a:r>
            <a:r>
              <a:rPr lang="zh-CN" altLang="en-US" dirty="0"/>
              <a:t>去“堆量”，</a:t>
            </a:r>
            <a:endParaRPr lang="en-US" altLang="zh-CN" dirty="0"/>
          </a:p>
          <a:p>
            <a:r>
              <a:rPr lang="zh-CN" altLang="en-US" dirty="0"/>
              <a:t>最多只会做出一个“更会统计，更会说话”的模型。</a:t>
            </a:r>
            <a:endParaRPr lang="LID4096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0DB6863-C191-DB13-EF70-BD6F0E19B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0275" y="2604460"/>
            <a:ext cx="2618581" cy="1909225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8995C69-2766-7550-9E67-88132A5CB52C}"/>
              </a:ext>
            </a:extLst>
          </p:cNvPr>
          <p:cNvSpPr txBox="1"/>
          <p:nvPr/>
        </p:nvSpPr>
        <p:spPr>
          <a:xfrm>
            <a:off x="535940" y="5313482"/>
            <a:ext cx="11833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在算力 数据 能源 成本等约束下，性价比在快速下降 需要更多新的输入方式，更多的模态感知去感受理解真实世界</a:t>
            </a:r>
            <a:endParaRPr lang="LID4096" dirty="0"/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EA511C8A-CCB5-7F20-BA94-D1AB9C0A3F68}"/>
              </a:ext>
            </a:extLst>
          </p:cNvPr>
          <p:cNvSpPr/>
          <p:nvPr/>
        </p:nvSpPr>
        <p:spPr>
          <a:xfrm>
            <a:off x="621676" y="5860111"/>
            <a:ext cx="97701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大模型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F58EC3CC-FF55-F9C5-406C-32F7004E7056}"/>
              </a:ext>
            </a:extLst>
          </p:cNvPr>
          <p:cNvSpPr/>
          <p:nvPr/>
        </p:nvSpPr>
        <p:spPr>
          <a:xfrm>
            <a:off x="2911177" y="5860111"/>
            <a:ext cx="97701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  <a:sym typeface="Noto Sans SC"/>
              </a:rPr>
              <a:t>世界模型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22" name="箭头: 下 21">
            <a:extLst>
              <a:ext uri="{FF2B5EF4-FFF2-40B4-BE49-F238E27FC236}">
                <a16:creationId xmlns:a16="http://schemas.microsoft.com/office/drawing/2014/main" id="{4206965B-D8A1-3875-929F-611390AEB7BA}"/>
              </a:ext>
            </a:extLst>
          </p:cNvPr>
          <p:cNvSpPr/>
          <p:nvPr/>
        </p:nvSpPr>
        <p:spPr>
          <a:xfrm>
            <a:off x="690342" y="260446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箭头: 左右 22">
            <a:extLst>
              <a:ext uri="{FF2B5EF4-FFF2-40B4-BE49-F238E27FC236}">
                <a16:creationId xmlns:a16="http://schemas.microsoft.com/office/drawing/2014/main" id="{0C86DF43-B1CA-8672-3B0F-AA192A669541}"/>
              </a:ext>
            </a:extLst>
          </p:cNvPr>
          <p:cNvSpPr/>
          <p:nvPr/>
        </p:nvSpPr>
        <p:spPr>
          <a:xfrm>
            <a:off x="1544185" y="5934517"/>
            <a:ext cx="1235349" cy="25433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531F5F-FDB1-110D-EF0C-D65E474E39BE}"/>
              </a:ext>
            </a:extLst>
          </p:cNvPr>
          <p:cNvSpPr txBox="1"/>
          <p:nvPr/>
        </p:nvSpPr>
        <p:spPr>
          <a:xfrm>
            <a:off x="1931766" y="563388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互补</a:t>
            </a:r>
            <a:endParaRPr lang="LID4096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BBFD4BF-2BAE-330E-AF08-6A98A97440BE}"/>
              </a:ext>
            </a:extLst>
          </p:cNvPr>
          <p:cNvSpPr txBox="1"/>
          <p:nvPr/>
        </p:nvSpPr>
        <p:spPr>
          <a:xfrm>
            <a:off x="607043" y="6377862"/>
            <a:ext cx="565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不需要推翻</a:t>
            </a:r>
            <a:r>
              <a:rPr lang="en-US" altLang="zh-CN" dirty="0"/>
              <a:t>LLM</a:t>
            </a:r>
            <a:r>
              <a:rPr lang="zh-CN" altLang="en-US" dirty="0"/>
              <a:t>重来，而是为</a:t>
            </a:r>
            <a:r>
              <a:rPr lang="en-US" altLang="zh-CN" dirty="0"/>
              <a:t>LLM</a:t>
            </a:r>
            <a:r>
              <a:rPr lang="zh-CN" altLang="en-US" dirty="0"/>
              <a:t>补上真实世界维度</a:t>
            </a:r>
            <a:endParaRPr lang="LID4096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F774909-5B8F-7AA1-3FFD-F5C8B9387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632" y="6003216"/>
            <a:ext cx="3092376" cy="70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624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00C5-CD01-0F6F-75D4-8ABECD9C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D23A29B4-C589-3B8C-A029-71EA4DFF938F}"/>
              </a:ext>
            </a:extLst>
          </p:cNvPr>
          <p:cNvSpPr/>
          <p:nvPr/>
        </p:nvSpPr>
        <p:spPr>
          <a:xfrm>
            <a:off x="535940" y="1288415"/>
            <a:ext cx="11087100" cy="9525"/>
          </a:xfrm>
          <a:custGeom>
            <a:avLst/>
            <a:gdLst/>
            <a:ahLst/>
            <a:cxnLst/>
            <a:rect l="l" t="t" r="r" b="b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9674BD22-7FAF-A700-9A01-757099046124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dirty="0">
                <a:solidFill>
                  <a:srgbClr val="4DA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FFE26BE-4B56-ED1A-C675-44F5ADA67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25" y="1466545"/>
            <a:ext cx="4714071" cy="2889269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23434F6-78A3-5FF7-696D-E68118F935B7}"/>
              </a:ext>
            </a:extLst>
          </p:cNvPr>
          <p:cNvSpPr txBox="1"/>
          <p:nvPr/>
        </p:nvSpPr>
        <p:spPr>
          <a:xfrm>
            <a:off x="6412675" y="2141693"/>
            <a:ext cx="5601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最直接的方式是让模型生成一个可以连续变化的世界</a:t>
            </a:r>
            <a:endParaRPr lang="LID4096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6546CDA-AAE9-362B-8563-7A20EBC4B41F}"/>
              </a:ext>
            </a:extLst>
          </p:cNvPr>
          <p:cNvSpPr txBox="1"/>
          <p:nvPr/>
        </p:nvSpPr>
        <p:spPr>
          <a:xfrm>
            <a:off x="6412675" y="1772361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水杯如何掉落，门如何打开，乒乓球如何运动</a:t>
            </a:r>
            <a:endParaRPr lang="LID4096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7C34D52-EB33-0636-286A-9662F307692F}"/>
              </a:ext>
            </a:extLst>
          </p:cNvPr>
          <p:cNvSpPr txBox="1"/>
          <p:nvPr/>
        </p:nvSpPr>
        <p:spPr>
          <a:xfrm>
            <a:off x="6412675" y="2616114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如果有这样的一个世界，可以为智能体提供训练场，</a:t>
            </a:r>
            <a:endParaRPr lang="en-US" altLang="zh-CN" dirty="0"/>
          </a:p>
          <a:p>
            <a:r>
              <a:rPr lang="zh-CN" altLang="en-US" dirty="0"/>
              <a:t>是体系入口</a:t>
            </a:r>
            <a:endParaRPr lang="LID4096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3D24AA3C-C326-96CE-5468-BD7D1D43B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25" y="4410314"/>
            <a:ext cx="3396172" cy="1706706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1FB5CCA-89D7-9341-9F9A-78331963E37A}"/>
              </a:ext>
            </a:extLst>
          </p:cNvPr>
          <p:cNvSpPr txBox="1"/>
          <p:nvPr/>
        </p:nvSpPr>
        <p:spPr>
          <a:xfrm>
            <a:off x="4182395" y="4540480"/>
            <a:ext cx="2230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大量真实世界视频数据</a:t>
            </a:r>
            <a:endParaRPr lang="LID4096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DB1EAAB-4064-0513-3EBE-22127BB92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25" y="6117020"/>
            <a:ext cx="1760073" cy="592617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8286DD5C-7325-AD1B-4D8C-E923CB525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3935" y="4863645"/>
            <a:ext cx="3851110" cy="195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09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D4C5-B589-70F7-B3E4-B702B2F4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C172972-FDE0-AA82-5D9D-7B5465A5C4B0}"/>
              </a:ext>
            </a:extLst>
          </p:cNvPr>
          <p:cNvSpPr/>
          <p:nvPr/>
        </p:nvSpPr>
        <p:spPr>
          <a:xfrm>
            <a:off x="320948" y="5807088"/>
            <a:ext cx="11382184" cy="10093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B94A415-9BE7-0700-C1D3-29538E816416}"/>
              </a:ext>
            </a:extLst>
          </p:cNvPr>
          <p:cNvSpPr/>
          <p:nvPr/>
        </p:nvSpPr>
        <p:spPr>
          <a:xfrm>
            <a:off x="320948" y="3845325"/>
            <a:ext cx="9084309" cy="19320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582484D-36AD-95B4-DC12-5FA36FA1B233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dirty="0">
                <a:solidFill>
                  <a:srgbClr val="4DA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6C312C-6285-A4FA-B369-7E784CC73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115" y="1795970"/>
            <a:ext cx="1760073" cy="5926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8D8244F-4CA2-E116-4772-7B3C256FD4EC}"/>
              </a:ext>
            </a:extLst>
          </p:cNvPr>
          <p:cNvSpPr txBox="1"/>
          <p:nvPr/>
        </p:nvSpPr>
        <p:spPr>
          <a:xfrm>
            <a:off x="1670115" y="2505406"/>
            <a:ext cx="4797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x,y,z</a:t>
            </a:r>
            <a:r>
              <a:rPr lang="zh-CN" altLang="en-US" dirty="0"/>
              <a:t>三维，质量，物理学规律，距离，碰撞。</a:t>
            </a:r>
            <a:endParaRPr lang="LID4096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5C1624-43D8-8071-A201-E8CA996F37CB}"/>
              </a:ext>
            </a:extLst>
          </p:cNvPr>
          <p:cNvSpPr txBox="1"/>
          <p:nvPr/>
        </p:nvSpPr>
        <p:spPr>
          <a:xfrm>
            <a:off x="1670115" y="2979446"/>
            <a:ext cx="43925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数据稀缺 </a:t>
            </a:r>
            <a:r>
              <a:rPr lang="en-US" altLang="zh-CN" dirty="0"/>
              <a:t>3D</a:t>
            </a:r>
            <a:r>
              <a:rPr lang="zh-CN" altLang="en-US" dirty="0"/>
              <a:t>数据缺少，获取麻烦</a:t>
            </a:r>
            <a:endParaRPr lang="en-US" altLang="zh-CN" dirty="0"/>
          </a:p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几何结构难建 </a:t>
            </a:r>
            <a:r>
              <a:rPr lang="zh-CN" altLang="en-US" dirty="0"/>
              <a:t>三维封闭，流体，链式碰撞</a:t>
            </a:r>
            <a:endParaRPr lang="en-US" altLang="zh-CN" dirty="0"/>
          </a:p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复杂</a:t>
            </a:r>
            <a:r>
              <a:rPr lang="en-US" altLang="zh-CN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3D</a:t>
            </a: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交互</a:t>
            </a:r>
            <a:endParaRPr lang="en-US" altLang="zh-CN" b="1" kern="0" dirty="0">
              <a:solidFill>
                <a:srgbClr val="005BAC"/>
              </a:solidFill>
              <a:latin typeface="Noto Sans SC"/>
              <a:ea typeface="Noto Sans SC"/>
              <a:cs typeface="Arial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D5B396-AB6D-9444-D96F-372308828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89" y="1392310"/>
            <a:ext cx="839168" cy="167359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12D817E-BA35-B133-816B-E2EC11075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0484" y="1836024"/>
            <a:ext cx="1572634" cy="1229880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F371BEF5-5919-B7EA-6775-C7C215524D9F}"/>
              </a:ext>
            </a:extLst>
          </p:cNvPr>
          <p:cNvSpPr/>
          <p:nvPr/>
        </p:nvSpPr>
        <p:spPr>
          <a:xfrm>
            <a:off x="6507263" y="2262331"/>
            <a:ext cx="938623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2C2783B-5AFA-C622-471B-E301A5492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174" y="4007928"/>
            <a:ext cx="2099977" cy="165452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604C2811-53DB-F56B-3846-ED3A94C03DE2}"/>
              </a:ext>
            </a:extLst>
          </p:cNvPr>
          <p:cNvSpPr txBox="1"/>
          <p:nvPr/>
        </p:nvSpPr>
        <p:spPr>
          <a:xfrm>
            <a:off x="2543364" y="3983263"/>
            <a:ext cx="6636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不断运动，试错，总结。最终获得可以在真实世界执行的动作</a:t>
            </a:r>
            <a:endParaRPr lang="LID4096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ED41DCC-8940-D64D-D410-5286CAFDAA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5939" y="4490533"/>
            <a:ext cx="3118371" cy="1024686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BA11822-76AF-87C3-D6BD-2CF6518C02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727" y="5937139"/>
            <a:ext cx="1913434" cy="74348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5E266B4-E0B4-A9E2-3160-1D48DAB7AD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3940" y="5882497"/>
            <a:ext cx="1444355" cy="89725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1AD3B5F3-A340-E43E-9295-635841A68E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5124" y="5851637"/>
            <a:ext cx="1677266" cy="96479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199F255-3B71-18C1-8465-255504C2D3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7960" y="5909710"/>
            <a:ext cx="1437926" cy="838222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1E0F61DE-3306-705F-AAC9-1DFDDE71D2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333" y="5909710"/>
            <a:ext cx="1359725" cy="889859"/>
          </a:xfrm>
          <a:prstGeom prst="rect">
            <a:avLst/>
          </a:prstGeom>
        </p:spPr>
      </p:pic>
      <p:sp>
        <p:nvSpPr>
          <p:cNvPr id="33" name="箭头: 右 32">
            <a:extLst>
              <a:ext uri="{FF2B5EF4-FFF2-40B4-BE49-F238E27FC236}">
                <a16:creationId xmlns:a16="http://schemas.microsoft.com/office/drawing/2014/main" id="{873FED91-4B4F-FC2C-6C36-59AB96CEA6DF}"/>
              </a:ext>
            </a:extLst>
          </p:cNvPr>
          <p:cNvSpPr/>
          <p:nvPr/>
        </p:nvSpPr>
        <p:spPr>
          <a:xfrm>
            <a:off x="7606145" y="6371112"/>
            <a:ext cx="1502229" cy="3095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697611F-2F18-C475-5702-490D97019BA2}"/>
              </a:ext>
            </a:extLst>
          </p:cNvPr>
          <p:cNvSpPr txBox="1"/>
          <p:nvPr/>
        </p:nvSpPr>
        <p:spPr>
          <a:xfrm>
            <a:off x="7692471" y="5985307"/>
            <a:ext cx="120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JEPA</a:t>
            </a:r>
            <a:r>
              <a:rPr lang="zh-CN" altLang="en-US" dirty="0"/>
              <a:t>运用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51747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92FA-BB59-8E19-F1D3-3CD803A0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4">
            <a:extLst>
              <a:ext uri="{FF2B5EF4-FFF2-40B4-BE49-F238E27FC236}">
                <a16:creationId xmlns:a16="http://schemas.microsoft.com/office/drawing/2014/main" id="{EE3F843F-28B8-270E-AB64-52582EC5F15C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3200" b="1" dirty="0">
                <a:solidFill>
                  <a:srgbClr val="4DA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世界模型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80526-4DF8-5939-78A4-A2B16CEDC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8" y="1962612"/>
            <a:ext cx="6301040" cy="23442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3B20FC-10D1-98C7-72B2-DFE930E2C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618" y="1962612"/>
            <a:ext cx="4310743" cy="23442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0B95479-3C4E-C6F5-FFFA-D87B4DC7B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79" y="5076780"/>
            <a:ext cx="2268186" cy="64640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A686975-58A0-59F8-8023-C3AE2ED48B61}"/>
              </a:ext>
            </a:extLst>
          </p:cNvPr>
          <p:cNvSpPr txBox="1"/>
          <p:nvPr/>
        </p:nvSpPr>
        <p:spPr>
          <a:xfrm>
            <a:off x="516578" y="46135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优点</a:t>
            </a:r>
            <a:endParaRPr lang="LID4096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614F84-E925-0C10-9CDD-723FF089D5BE}"/>
              </a:ext>
            </a:extLst>
          </p:cNvPr>
          <p:cNvSpPr txBox="1"/>
          <p:nvPr/>
        </p:nvSpPr>
        <p:spPr>
          <a:xfrm>
            <a:off x="2978728" y="461356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缺点</a:t>
            </a:r>
            <a:endParaRPr lang="LID4096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3A1A23B-1901-3AE2-1170-03B4F28BEF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521" y="5076780"/>
            <a:ext cx="3360593" cy="1072189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516FA01-0ECD-6B04-7347-F8B049C391AF}"/>
              </a:ext>
            </a:extLst>
          </p:cNvPr>
          <p:cNvSpPr txBox="1"/>
          <p:nvPr/>
        </p:nvSpPr>
        <p:spPr>
          <a:xfrm>
            <a:off x="6537366" y="5485080"/>
            <a:ext cx="2031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给一帧预测下一帧</a:t>
            </a:r>
            <a:endParaRPr lang="LID4096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0A52BF6-B4B6-8AC1-CA89-94E76395587A}"/>
              </a:ext>
            </a:extLst>
          </p:cNvPr>
          <p:cNvSpPr txBox="1"/>
          <p:nvPr/>
        </p:nvSpPr>
        <p:spPr>
          <a:xfrm>
            <a:off x="9037122" y="548508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一个特殊“结构”</a:t>
            </a:r>
            <a:endParaRPr lang="LID4096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11D434A-DBC1-E80B-2BC0-B70648BA9553}"/>
              </a:ext>
            </a:extLst>
          </p:cNvPr>
          <p:cNvSpPr txBox="1"/>
          <p:nvPr/>
        </p:nvSpPr>
        <p:spPr>
          <a:xfrm>
            <a:off x="6537366" y="5779637"/>
            <a:ext cx="277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缺少</a:t>
            </a:r>
            <a:r>
              <a:rPr lang="en-US" altLang="zh-CN" dirty="0"/>
              <a:t>benchmark</a:t>
            </a:r>
            <a:r>
              <a:rPr lang="zh-CN" altLang="en-US" dirty="0"/>
              <a:t>基准评估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11891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F335-3D09-E7FF-D672-6F828B04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4">
            <a:extLst>
              <a:ext uri="{FF2B5EF4-FFF2-40B4-BE49-F238E27FC236}">
                <a16:creationId xmlns:a16="http://schemas.microsoft.com/office/drawing/2014/main" id="{5B59FA02-6D9A-9AB7-CBB6-8980FD1D07BB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发展前景和存在的问题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A23B61-51C2-B0AF-8D07-992DDAD9CBEB}"/>
              </a:ext>
            </a:extLst>
          </p:cNvPr>
          <p:cNvSpPr txBox="1"/>
          <p:nvPr/>
        </p:nvSpPr>
        <p:spPr>
          <a:xfrm>
            <a:off x="516576" y="234477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机器人行业</a:t>
            </a:r>
            <a:endParaRPr lang="en-US" altLang="zh-CN" b="1" kern="0" dirty="0">
              <a:solidFill>
                <a:srgbClr val="005BAC"/>
              </a:solidFill>
              <a:latin typeface="Noto Sans SC"/>
              <a:ea typeface="Noto Sans SC"/>
              <a:cs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6FADF3-25CE-4B72-A2DA-B57D9AD56167}"/>
              </a:ext>
            </a:extLst>
          </p:cNvPr>
          <p:cNvSpPr txBox="1"/>
          <p:nvPr/>
        </p:nvSpPr>
        <p:spPr>
          <a:xfrm>
            <a:off x="2066306" y="2350716"/>
            <a:ext cx="5396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提高泛化能力，模拟世界中训练，多下游任务迁移</a:t>
            </a:r>
            <a:endParaRPr lang="LID4096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32BFC7-67C8-A0DD-EB47-F37684C5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870" y="2815153"/>
            <a:ext cx="4685150" cy="203490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50904E0-0A20-7BAC-C9DF-B33E7157327F}"/>
              </a:ext>
            </a:extLst>
          </p:cNvPr>
          <p:cNvSpPr txBox="1"/>
          <p:nvPr/>
        </p:nvSpPr>
        <p:spPr>
          <a:xfrm>
            <a:off x="516576" y="28151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智能驾驶</a:t>
            </a:r>
            <a:endParaRPr lang="en-US" altLang="zh-CN" b="1" kern="0" dirty="0">
              <a:solidFill>
                <a:srgbClr val="005BAC"/>
              </a:solidFill>
              <a:latin typeface="Noto Sans SC"/>
              <a:ea typeface="Noto Sans SC"/>
              <a:cs typeface="Arial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A027FB-CD7F-BDE3-3AB4-C868BAAC795E}"/>
              </a:ext>
            </a:extLst>
          </p:cNvPr>
          <p:cNvSpPr txBox="1"/>
          <p:nvPr/>
        </p:nvSpPr>
        <p:spPr>
          <a:xfrm>
            <a:off x="516576" y="50160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可穿戴设备</a:t>
            </a:r>
            <a:endParaRPr lang="en-US" altLang="zh-CN" b="1" kern="0" dirty="0">
              <a:solidFill>
                <a:srgbClr val="005BAC"/>
              </a:solidFill>
              <a:latin typeface="Noto Sans SC"/>
              <a:ea typeface="Noto Sans SC"/>
              <a:cs typeface="Arial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B65E78-66E2-9D5B-7052-C7B78EAE5FED}"/>
              </a:ext>
            </a:extLst>
          </p:cNvPr>
          <p:cNvSpPr txBox="1"/>
          <p:nvPr/>
        </p:nvSpPr>
        <p:spPr>
          <a:xfrm>
            <a:off x="516576" y="53853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内容创作</a:t>
            </a:r>
            <a:endParaRPr lang="en-US" altLang="zh-CN" b="1" kern="0" dirty="0">
              <a:solidFill>
                <a:srgbClr val="005BAC"/>
              </a:solidFill>
              <a:latin typeface="Noto Sans SC"/>
              <a:ea typeface="Noto Sans SC"/>
              <a:cs typeface="Arial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3EA0AC7-0CB8-A138-D75D-A46462B00761}"/>
              </a:ext>
            </a:extLst>
          </p:cNvPr>
          <p:cNvSpPr txBox="1"/>
          <p:nvPr/>
        </p:nvSpPr>
        <p:spPr>
          <a:xfrm>
            <a:off x="516576" y="5754710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Agent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B93384-A00E-9612-087F-8878472A9624}"/>
              </a:ext>
            </a:extLst>
          </p:cNvPr>
          <p:cNvSpPr txBox="1"/>
          <p:nvPr/>
        </p:nvSpPr>
        <p:spPr>
          <a:xfrm>
            <a:off x="2173183" y="5016046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VR,AR</a:t>
            </a:r>
            <a:r>
              <a:rPr lang="zh-CN" altLang="en-US" dirty="0"/>
              <a:t>等，建筑建模，</a:t>
            </a:r>
            <a:r>
              <a:rPr lang="en-US" altLang="zh-CN" dirty="0"/>
              <a:t>3D</a:t>
            </a:r>
            <a:r>
              <a:rPr lang="zh-CN" altLang="en-US" dirty="0"/>
              <a:t>世界，数字建模</a:t>
            </a:r>
            <a:endParaRPr lang="LID4096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34600C7-015C-1B47-014E-11396E745D36}"/>
              </a:ext>
            </a:extLst>
          </p:cNvPr>
          <p:cNvSpPr txBox="1"/>
          <p:nvPr/>
        </p:nvSpPr>
        <p:spPr>
          <a:xfrm>
            <a:off x="2173183" y="5385378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</a:t>
            </a:r>
            <a:r>
              <a:rPr lang="zh-CN" altLang="en-US" dirty="0"/>
              <a:t>短剧，横店群演失业</a:t>
            </a:r>
            <a:endParaRPr lang="LID4096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D5F4DB-8DC8-2E73-681A-B094D3D6AF73}"/>
              </a:ext>
            </a:extLst>
          </p:cNvPr>
          <p:cNvSpPr txBox="1"/>
          <p:nvPr/>
        </p:nvSpPr>
        <p:spPr>
          <a:xfrm>
            <a:off x="2173183" y="5754710"/>
            <a:ext cx="5929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altLang="zh-CN" dirty="0"/>
              <a:t>gent</a:t>
            </a:r>
            <a:r>
              <a:rPr lang="zh-CN" altLang="en-US" dirty="0"/>
              <a:t>的能力来自于与环境的交互，执行动作 接受反馈。</a:t>
            </a:r>
            <a:endParaRPr lang="LID4096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C24236E-A248-EBB2-E4E5-493C1B3B8D89}"/>
              </a:ext>
            </a:extLst>
          </p:cNvPr>
          <p:cNvSpPr txBox="1"/>
          <p:nvPr/>
        </p:nvSpPr>
        <p:spPr>
          <a:xfrm>
            <a:off x="496646" y="1606114"/>
            <a:ext cx="4394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4DA6FF"/>
                </a:solidFill>
                <a:latin typeface="Noto Sans SC" panose="020B0200000000000000" charset="-122"/>
                <a:ea typeface="Noto Sans SC" panose="020B0200000000000000" charset="-122"/>
              </a:rPr>
              <a:t>世界模型目前热门相关行业或者研究</a:t>
            </a:r>
            <a:endParaRPr lang="LID4096" sz="2000" b="1" dirty="0">
              <a:solidFill>
                <a:srgbClr val="4DA6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833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E0E34-9572-9A19-4FE6-99B1CF85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AutoShape 4">
            <a:extLst>
              <a:ext uri="{FF2B5EF4-FFF2-40B4-BE49-F238E27FC236}">
                <a16:creationId xmlns:a16="http://schemas.microsoft.com/office/drawing/2014/main" id="{828F3C39-604F-B798-0934-6E5EE13CB5A4}"/>
              </a:ext>
            </a:extLst>
          </p:cNvPr>
          <p:cNvSpPr/>
          <p:nvPr/>
        </p:nvSpPr>
        <p:spPr>
          <a:xfrm>
            <a:off x="762000" y="21209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DA6FF"/>
                </a:solidFill>
                <a:effectLst/>
                <a:uLnTx/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发展前景和存在的问题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944163-C819-3CC8-173E-B341B686AE64}"/>
              </a:ext>
            </a:extLst>
          </p:cNvPr>
          <p:cNvSpPr txBox="1"/>
          <p:nvPr/>
        </p:nvSpPr>
        <p:spPr>
          <a:xfrm>
            <a:off x="496646" y="160611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4DA6FF"/>
                </a:solidFill>
                <a:latin typeface="Noto Sans SC" panose="020B0200000000000000" charset="-122"/>
                <a:ea typeface="Noto Sans SC" panose="020B0200000000000000" charset="-122"/>
              </a:rPr>
              <a:t>存在的问题：</a:t>
            </a:r>
            <a:endParaRPr lang="LID4096" sz="2000" b="1" dirty="0">
              <a:solidFill>
                <a:srgbClr val="4DA6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943C24-934A-7461-5BDB-720AB9B7B758}"/>
              </a:ext>
            </a:extLst>
          </p:cNvPr>
          <p:cNvSpPr txBox="1"/>
          <p:nvPr/>
        </p:nvSpPr>
        <p:spPr>
          <a:xfrm>
            <a:off x="496646" y="2131621"/>
            <a:ext cx="94516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1.</a:t>
            </a: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风险更高 </a:t>
            </a:r>
            <a:r>
              <a:rPr lang="zh-CN" altLang="en-US" dirty="0"/>
              <a:t>模型幻觉 </a:t>
            </a:r>
            <a:r>
              <a:rPr lang="en-US" altLang="zh-CN" dirty="0"/>
              <a:t>Sim-to-real</a:t>
            </a:r>
            <a:r>
              <a:rPr lang="zh-CN" altLang="en-US" dirty="0"/>
              <a:t>差异 语言模型的幻觉 视频模型的幻觉 世界模型的幻觉</a:t>
            </a:r>
            <a:endParaRPr lang="en-US" altLang="zh-CN" dirty="0"/>
          </a:p>
          <a:p>
            <a:r>
              <a:rPr 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2.</a:t>
            </a: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成熟的世界模型 </a:t>
            </a:r>
            <a:r>
              <a:rPr lang="zh-CN" altLang="en-US" dirty="0"/>
              <a:t>构建难度大，但是如果针对构建出来了，信息垄断，社会操纵，商业控制</a:t>
            </a:r>
            <a:endParaRPr lang="en-US" altLang="zh-CN" dirty="0"/>
          </a:p>
          <a:p>
            <a:r>
              <a:rPr 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3.</a:t>
            </a:r>
            <a:r>
              <a:rPr lang="zh-CN" altLang="en-US" b="1" kern="0" dirty="0">
                <a:solidFill>
                  <a:srgbClr val="005BAC"/>
                </a:solidFill>
                <a:latin typeface="Noto Sans SC"/>
                <a:ea typeface="Noto Sans SC"/>
                <a:cs typeface="Arial"/>
              </a:rPr>
              <a:t>伦理问题 </a:t>
            </a:r>
            <a:r>
              <a:rPr lang="zh-CN" altLang="en-US" dirty="0"/>
              <a:t>虚拟现实，</a:t>
            </a:r>
            <a:r>
              <a:rPr lang="en-US" altLang="zh-CN" dirty="0"/>
              <a:t>AI</a:t>
            </a:r>
            <a:r>
              <a:rPr lang="zh-CN" altLang="en-US" dirty="0"/>
              <a:t>超智能化</a:t>
            </a:r>
            <a:endParaRPr lang="LID4096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C4138D-C96C-9832-5FAD-2590B8CA9404}"/>
              </a:ext>
            </a:extLst>
          </p:cNvPr>
          <p:cNvSpPr txBox="1"/>
          <p:nvPr/>
        </p:nvSpPr>
        <p:spPr>
          <a:xfrm>
            <a:off x="496645" y="3293164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4DA6FF"/>
                </a:solidFill>
                <a:latin typeface="Noto Sans SC" panose="020B0200000000000000" charset="-122"/>
                <a:ea typeface="Noto Sans SC" panose="020B0200000000000000" charset="-122"/>
              </a:rPr>
              <a:t>总结：双刃剑</a:t>
            </a:r>
            <a:endParaRPr lang="LID4096" sz="2000" b="1" dirty="0">
              <a:solidFill>
                <a:srgbClr val="4DA6FF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022AEA-74E6-B992-24F4-7C1CF1271CE5}"/>
              </a:ext>
            </a:extLst>
          </p:cNvPr>
          <p:cNvSpPr txBox="1"/>
          <p:nvPr/>
        </p:nvSpPr>
        <p:spPr>
          <a:xfrm>
            <a:off x="570223" y="3803050"/>
            <a:ext cx="4652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蕴含着巨大历史机遇，也许是</a:t>
            </a:r>
            <a:r>
              <a:rPr lang="en-US" altLang="zh-CN" dirty="0"/>
              <a:t>AI</a:t>
            </a:r>
            <a:r>
              <a:rPr lang="zh-CN" altLang="en-US" dirty="0"/>
              <a:t>发展的拐点</a:t>
            </a:r>
            <a:endParaRPr lang="en-US" altLang="zh-CN" dirty="0"/>
          </a:p>
          <a:p>
            <a:r>
              <a:rPr lang="zh-CN" altLang="en-US" dirty="0"/>
              <a:t>充满挑战，改变相关行业格局，就业冲击</a:t>
            </a:r>
            <a:endParaRPr lang="LID4096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B557C0-89CB-A84E-02C2-6204865780CF}"/>
              </a:ext>
            </a:extLst>
          </p:cNvPr>
          <p:cNvSpPr txBox="1"/>
          <p:nvPr/>
        </p:nvSpPr>
        <p:spPr>
          <a:xfrm>
            <a:off x="496645" y="469669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参考文献来源：</a:t>
            </a:r>
            <a:endParaRPr lang="LID4096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2D019A-C9C0-74E2-DE07-025294C6685E}"/>
              </a:ext>
            </a:extLst>
          </p:cNvPr>
          <p:cNvSpPr txBox="1"/>
          <p:nvPr/>
        </p:nvSpPr>
        <p:spPr>
          <a:xfrm>
            <a:off x="496645" y="5129631"/>
            <a:ext cx="94051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hlinkClick r:id="rId3"/>
              </a:rPr>
              <a:t>全面解析“世界模型”：定义、路线、实践与</a:t>
            </a:r>
            <a:r>
              <a:rPr lang="en-US" altLang="zh-CN" dirty="0">
                <a:hlinkClick r:id="rId3"/>
              </a:rPr>
              <a:t>AGI</a:t>
            </a:r>
            <a:r>
              <a:rPr lang="zh-CN" altLang="en-US" dirty="0">
                <a:hlinkClick r:id="rId3"/>
              </a:rPr>
              <a:t>的更近一步</a:t>
            </a:r>
            <a:r>
              <a:rPr lang="en-US" altLang="zh-CN" dirty="0">
                <a:hlinkClick r:id="rId3"/>
              </a:rPr>
              <a:t>【</a:t>
            </a:r>
            <a:r>
              <a:rPr lang="zh-CN" altLang="en-US" dirty="0">
                <a:hlinkClick r:id="rId3"/>
              </a:rPr>
              <a:t>硅谷</a:t>
            </a:r>
            <a:r>
              <a:rPr lang="en-US" altLang="zh-CN" dirty="0">
                <a:hlinkClick r:id="rId3"/>
              </a:rPr>
              <a:t>101】_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en-US" altLang="zh-CN" dirty="0"/>
          </a:p>
          <a:p>
            <a:r>
              <a:rPr lang="zh-CN" altLang="en-US" dirty="0"/>
              <a:t>充满挑战，改变相关行业格局，就业冲击</a:t>
            </a:r>
            <a:endParaRPr lang="en-US" altLang="zh-CN" dirty="0"/>
          </a:p>
          <a:p>
            <a:r>
              <a:rPr lang="en-GB" dirty="0">
                <a:hlinkClick r:id="rId4"/>
              </a:rPr>
              <a:t>World Models | </a:t>
            </a:r>
            <a:r>
              <a:rPr lang="en-GB" dirty="0" err="1">
                <a:hlinkClick r:id="rId4"/>
              </a:rPr>
              <a:t>alphaXiv</a:t>
            </a:r>
            <a:endParaRPr lang="en-GB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266023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A6DE5A-22A0-0101-C607-62709A9B46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00695"/>
            <a:ext cx="9144000" cy="909267"/>
          </a:xfrm>
        </p:spPr>
        <p:txBody>
          <a:bodyPr>
            <a:normAutofit/>
          </a:bodyPr>
          <a:lstStyle/>
          <a:p>
            <a:r>
              <a:rPr lang="zh-CN" altLang="en-US" sz="1400" dirty="0"/>
              <a:t>后续工作 相关论文阅读</a:t>
            </a:r>
            <a:endParaRPr lang="LID4096" sz="1400" dirty="0"/>
          </a:p>
        </p:txBody>
      </p:sp>
    </p:spTree>
    <p:extLst>
      <p:ext uri="{BB962C8B-B14F-4D97-AF65-F5344CB8AC3E}">
        <p14:creationId xmlns:p14="http://schemas.microsoft.com/office/powerpoint/2010/main" val="299972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683</Words>
  <Application>Microsoft Office PowerPoint</Application>
  <PresentationFormat>宽屏</PresentationFormat>
  <Paragraphs>94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Microsoft YaHei UI</vt:lpstr>
      <vt:lpstr>Noto Sans SC</vt:lpstr>
      <vt:lpstr>Arial</vt:lpstr>
      <vt:lpstr>Calibri</vt:lpstr>
      <vt:lpstr>Calibri Light</vt:lpstr>
      <vt:lpstr>Office 主题​​</vt:lpstr>
      <vt:lpstr>默认主题</vt:lpstr>
      <vt:lpstr>默认设计模板</vt:lpstr>
      <vt:lpstr>World Model调研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后续工作 相关论文阅读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ancy Y</dc:creator>
  <cp:lastModifiedBy>ancy Y</cp:lastModifiedBy>
  <cp:revision>3</cp:revision>
  <dcterms:created xsi:type="dcterms:W3CDTF">2026-09-12T04:31:46Z</dcterms:created>
  <dcterms:modified xsi:type="dcterms:W3CDTF">2026-09-12T07:42:29Z</dcterms:modified>
</cp:coreProperties>
</file>